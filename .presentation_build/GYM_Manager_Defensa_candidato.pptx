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5b69d52ca428d" /><Relationship Type="http://schemas.openxmlformats.org/officeDocument/2006/relationships/extended-properties" Target="/docProps/app.xml" Id="R942fee65a4884c2f" /><Relationship Type="http://schemas.openxmlformats.org/officeDocument/2006/relationships/officeDocument" Target="/ppt/presentation.xml" Id="R31c737c5c3d34e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e024a2a1d4766"/>
  </p:sldMasterIdLst>
  <p:notesMasterIdLst>
    <p:notesMasterId xmlns:r="http://schemas.openxmlformats.org/officeDocument/2006/relationships" r:id="R96ef43288a904392"/>
  </p:notesMasterIdLst>
  <p:sldIdLst>
    <p:sldId xmlns:r="http://schemas.openxmlformats.org/officeDocument/2006/relationships" id="256" r:id="R7e9125ff769d41e2"/>
    <p:sldId xmlns:r="http://schemas.openxmlformats.org/officeDocument/2006/relationships" id="257" r:id="Re4fed8ceb94c4387"/>
    <p:sldId xmlns:r="http://schemas.openxmlformats.org/officeDocument/2006/relationships" id="258" r:id="R208640b9b6cc4384"/>
    <p:sldId xmlns:r="http://schemas.openxmlformats.org/officeDocument/2006/relationships" id="259" r:id="Ra8d139e0053e4caf"/>
    <p:sldId xmlns:r="http://schemas.openxmlformats.org/officeDocument/2006/relationships" id="260" r:id="Ra8b64c15dbb2409c"/>
    <p:sldId xmlns:r="http://schemas.openxmlformats.org/officeDocument/2006/relationships" id="261" r:id="Rb2fa87df7a054639"/>
    <p:sldId xmlns:r="http://schemas.openxmlformats.org/officeDocument/2006/relationships" id="262" r:id="Rdce25be5cd9544b7"/>
    <p:sldId xmlns:r="http://schemas.openxmlformats.org/officeDocument/2006/relationships" id="263" r:id="R0c89ee9d252e44ac"/>
    <p:sldId xmlns:r="http://schemas.openxmlformats.org/officeDocument/2006/relationships" id="264" r:id="R44d610766db84c9c"/>
    <p:sldId xmlns:r="http://schemas.openxmlformats.org/officeDocument/2006/relationships" id="265" r:id="R9209d41bca34467e"/>
    <p:sldId xmlns:r="http://schemas.openxmlformats.org/officeDocument/2006/relationships" id="266" r:id="R6a47134c38314024"/>
    <p:sldId xmlns:r="http://schemas.openxmlformats.org/officeDocument/2006/relationships" id="267" r:id="R10cf5207645041b3"/>
    <p:sldId xmlns:r="http://schemas.openxmlformats.org/officeDocument/2006/relationships" id="268" r:id="R6e6379a02f3541c0"/>
    <p:sldId xmlns:r="http://schemas.openxmlformats.org/officeDocument/2006/relationships" id="269" r:id="Rc2eeae4d0d24402f"/>
    <p:sldId xmlns:r="http://schemas.openxmlformats.org/officeDocument/2006/relationships" id="270" r:id="R20cf4e831af54ffe"/>
    <p:sldId xmlns:r="http://schemas.openxmlformats.org/officeDocument/2006/relationships" id="271" r:id="R49034b2f4c8c42a8"/>
    <p:sldId xmlns:r="http://schemas.openxmlformats.org/officeDocument/2006/relationships" id="272" r:id="R34e5577b093b4f16"/>
    <p:sldId xmlns:r="http://schemas.openxmlformats.org/officeDocument/2006/relationships" id="273" r:id="R91594cc42b904dbd"/>
    <p:sldId xmlns:r="http://schemas.openxmlformats.org/officeDocument/2006/relationships" id="274" r:id="Rbe87ac3728824c94"/>
    <p:sldId xmlns:r="http://schemas.openxmlformats.org/officeDocument/2006/relationships" id="275" r:id="R89ab72c6980a49a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075ea705a4cad" /><Relationship Type="http://schemas.openxmlformats.org/officeDocument/2006/relationships/slideMaster" Target="/ppt/slideMasters/slideMaster1.xml" Id="R22ee024a2a1d4766" /><Relationship Type="http://schemas.openxmlformats.org/officeDocument/2006/relationships/notesMaster" Target="/ppt/notesMasters/notesMaster1.xml" Id="R96ef43288a904392" /><Relationship Type="http://schemas.openxmlformats.org/officeDocument/2006/relationships/presProps" Target="/ppt/presProps.xml" Id="R3cb0544f64e4495a" /><Relationship Type="http://schemas.openxmlformats.org/officeDocument/2006/relationships/viewProps" Target="/ppt/viewProps.xml" Id="R4a9ea66909644953" /><Relationship Type="http://schemas.openxmlformats.org/officeDocument/2006/relationships/tableStyles" Target="/ppt/tableStyles.xml" Id="Rba66c46609844668" /><Relationship Type="http://schemas.openxmlformats.org/officeDocument/2006/relationships/slide" Target="/ppt/slides/slide1.xml" Id="R7e9125ff769d41e2" /><Relationship Type="http://schemas.openxmlformats.org/officeDocument/2006/relationships/slide" Target="/ppt/slides/slide2.xml" Id="Re4fed8ceb94c4387" /><Relationship Type="http://schemas.openxmlformats.org/officeDocument/2006/relationships/slide" Target="/ppt/slides/slide3.xml" Id="R208640b9b6cc4384" /><Relationship Type="http://schemas.openxmlformats.org/officeDocument/2006/relationships/slide" Target="/ppt/slides/slide4.xml" Id="Ra8d139e0053e4caf" /><Relationship Type="http://schemas.openxmlformats.org/officeDocument/2006/relationships/slide" Target="/ppt/slides/slide5.xml" Id="Ra8b64c15dbb2409c" /><Relationship Type="http://schemas.openxmlformats.org/officeDocument/2006/relationships/slide" Target="/ppt/slides/slide6.xml" Id="Rb2fa87df7a054639" /><Relationship Type="http://schemas.openxmlformats.org/officeDocument/2006/relationships/slide" Target="/ppt/slides/slide7.xml" Id="Rdce25be5cd9544b7" /><Relationship Type="http://schemas.openxmlformats.org/officeDocument/2006/relationships/slide" Target="/ppt/slides/slide8.xml" Id="R0c89ee9d252e44ac" /><Relationship Type="http://schemas.openxmlformats.org/officeDocument/2006/relationships/slide" Target="/ppt/slides/slide9.xml" Id="R44d610766db84c9c" /><Relationship Type="http://schemas.openxmlformats.org/officeDocument/2006/relationships/slide" Target="/ppt/slides/slide10.xml" Id="R9209d41bca34467e" /><Relationship Type="http://schemas.openxmlformats.org/officeDocument/2006/relationships/slide" Target="/ppt/slides/slide11.xml" Id="R6a47134c38314024" /><Relationship Type="http://schemas.openxmlformats.org/officeDocument/2006/relationships/slide" Target="/ppt/slides/slide12.xml" Id="R10cf5207645041b3" /><Relationship Type="http://schemas.openxmlformats.org/officeDocument/2006/relationships/slide" Target="/ppt/slides/slide13.xml" Id="R6e6379a02f3541c0" /><Relationship Type="http://schemas.openxmlformats.org/officeDocument/2006/relationships/slide" Target="/ppt/slides/slide14.xml" Id="Rc2eeae4d0d24402f" /><Relationship Type="http://schemas.openxmlformats.org/officeDocument/2006/relationships/slide" Target="/ppt/slides/slide15.xml" Id="R20cf4e831af54ffe" /><Relationship Type="http://schemas.openxmlformats.org/officeDocument/2006/relationships/slide" Target="/ppt/slides/slide16.xml" Id="R49034b2f4c8c42a8" /><Relationship Type="http://schemas.openxmlformats.org/officeDocument/2006/relationships/slide" Target="/ppt/slides/slide17.xml" Id="R34e5577b093b4f16" /><Relationship Type="http://schemas.openxmlformats.org/officeDocument/2006/relationships/slide" Target="/ppt/slides/slide18.xml" Id="R91594cc42b904dbd" /><Relationship Type="http://schemas.openxmlformats.org/officeDocument/2006/relationships/slide" Target="/ppt/slides/slide19.xml" Id="Rbe87ac3728824c94" /><Relationship Type="http://schemas.openxmlformats.org/officeDocument/2006/relationships/slide" Target="/ppt/slides/slide20.xml" Id="R89ab72c6980a49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7e6e8030a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be4fe097c4fe8" /><Relationship Type="http://schemas.openxmlformats.org/officeDocument/2006/relationships/notesMaster" Target="/ppt/notesMasters/notesMaster1.xml" Id="Ra005d2bcc5cb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358c4aa9d435a" /><Relationship Type="http://schemas.openxmlformats.org/officeDocument/2006/relationships/notesMaster" Target="/ppt/notesMasters/notesMaster1.xml" Id="Rf4be5e36f654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482bb931c431b" /><Relationship Type="http://schemas.openxmlformats.org/officeDocument/2006/relationships/notesMaster" Target="/ppt/notesMasters/notesMaster1.xml" Id="R2829b3e6911e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e0e7112d084079" /><Relationship Type="http://schemas.openxmlformats.org/officeDocument/2006/relationships/notesMaster" Target="/ppt/notesMasters/notesMaster1.xml" Id="R4a1a3382b09542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0b774b09184848" /><Relationship Type="http://schemas.openxmlformats.org/officeDocument/2006/relationships/notesMaster" Target="/ppt/notesMasters/notesMaster1.xml" Id="R046d4540674b4d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948833245848eb" /><Relationship Type="http://schemas.openxmlformats.org/officeDocument/2006/relationships/notesMaster" Target="/ppt/notesMasters/notesMaster1.xml" Id="Reb951735c63040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8b68a9ad440ff" /><Relationship Type="http://schemas.openxmlformats.org/officeDocument/2006/relationships/notesMaster" Target="/ppt/notesMasters/notesMaster1.xml" Id="R36c68306c67848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ab5f67aff4e8f" /><Relationship Type="http://schemas.openxmlformats.org/officeDocument/2006/relationships/notesMaster" Target="/ppt/notesMasters/notesMaster1.xml" Id="R646968628e9f44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bafac90565446a" /><Relationship Type="http://schemas.openxmlformats.org/officeDocument/2006/relationships/notesMaster" Target="/ppt/notesMasters/notesMaster1.xml" Id="Rb3f9f4c2de5a4e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be42796f234784" /><Relationship Type="http://schemas.openxmlformats.org/officeDocument/2006/relationships/notesMaster" Target="/ppt/notesMasters/notesMaster1.xml" Id="R4634cd3ddbcc41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c773e09e6b431e" /><Relationship Type="http://schemas.openxmlformats.org/officeDocument/2006/relationships/notesMaster" Target="/ppt/notesMasters/notesMaster1.xml" Id="R339e73ad7dbd4a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645878a04d4d24" /><Relationship Type="http://schemas.openxmlformats.org/officeDocument/2006/relationships/notesMaster" Target="/ppt/notesMasters/notesMaster1.xml" Id="R747a687b40f742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e1e21b88c4486b" /><Relationship Type="http://schemas.openxmlformats.org/officeDocument/2006/relationships/notesMaster" Target="/ppt/notesMasters/notesMaster1.xml" Id="R2e406115ed3141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df5a199da24dd3" /><Relationship Type="http://schemas.openxmlformats.org/officeDocument/2006/relationships/notesMaster" Target="/ppt/notesMasters/notesMaster1.xml" Id="Ra913026960764f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fb91b604374d40" /><Relationship Type="http://schemas.openxmlformats.org/officeDocument/2006/relationships/notesMaster" Target="/ppt/notesMasters/notesMaster1.xml" Id="R2bd1b3f6ca484b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2d40e2e450461b" /><Relationship Type="http://schemas.openxmlformats.org/officeDocument/2006/relationships/notesMaster" Target="/ppt/notesMasters/notesMaster1.xml" Id="R74203d64706b47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1ebaaafb2a4991" /><Relationship Type="http://schemas.openxmlformats.org/officeDocument/2006/relationships/notesMaster" Target="/ppt/notesMasters/notesMaster1.xml" Id="R045f1c1eef9f45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0bca4e4eda4fbe" /><Relationship Type="http://schemas.openxmlformats.org/officeDocument/2006/relationships/notesMaster" Target="/ppt/notesMasters/notesMaster1.xml" Id="R78a1b42393b445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8ce5f4c09445bf" /><Relationship Type="http://schemas.openxmlformats.org/officeDocument/2006/relationships/notesMaster" Target="/ppt/notesMasters/notesMaster1.xml" Id="Ra9a0bef391dd41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8f9d045d664532" /><Relationship Type="http://schemas.openxmlformats.org/officeDocument/2006/relationships/notesMaster" Target="/ppt/notesMasters/notesMaster1.xml" Id="Rc6d7e8cdb56d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Trabajo Final — GYM Manager. Saluden al jurado y presenten brevemente al equipo.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gimnasio no tenía ningún sistema digital. Todo era manual: socios en papel, no sabían quién debía renovar, no había control de gastos.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backend utiliza FastAPI, SQLAlchemy y MySQL con aiomysql. El frontend usa React, React Router y Tailwind CSS. GitHub mantiene el historial de cambios.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cambio tecnológico principal fue pasar de Node.js y Express a Python y FastAPI. La implementación actual usa MySQL como base de datos y aiomysql para la conexión asíncrona.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backend y el frontend se hicieron tan rápido porque reutilizamos la estructura del proyecto de clínica médica. No empezamos de cero.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Primero mostramos el acceso al sistema. Luego recorremos Dashboard, Miembros, Membresías, Vencidos, Disciplinas, Instructores y Trabajadores, y Finanzas.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solicita usuario y contraseña. Tras validar las credenciales, el backend entrega un JWT. Los roles root, admin y empleado determinan los permisos disponibles.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Dashboard reúne indicadores de miembros, membresías activas y vencidas, nuevos ingresos, disciplinas e instructores. Es la primera pantalla útil para conocer el estado del gimnasio.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baja lógica es importante: el registro persiste en la BD marcado como inactivo. Se puede reactivar el socio.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campo es_nuevo lo detecta el backend automáticamente. El renovar genera un registro nuevo desde hoy.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 resuelve el problema principal del gimnasio: saber quién debe renovar sin buscar manualmente.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disciplinas son la entidad central. Sin disciplina no hay membresía. El precio mensual es el que se copia al crear una membresía.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Instructores se vinculan a disciplinas. Si la disciplina se elimina, el instructor queda con disciplina NULL (ON DELETE SET NULL). Los trabajadores tienen perfil con sueldo y credenciales.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módulo de finanzas no estaba en la propuesta original. Se agregó porque era necesario para el dueño del gimnasio.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realizado por Axel Avalo durante la cursada. Destacar la relación miembro→membresía→disciplina y el ON DELETE SET NULL de instructor.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request entra por React, pasa por los routers de FastAPI, se valida con Pydantic, el ORM habla con la BD y devuelve la respuesta.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 implementaron pruebas automatizadas. Todo fue prueba manual. Para la demo, arrancar ambos servidores antes.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es clave para la defensa. Mostrar que entienden qué aprendieron, no solo que el sistema funciona.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Mencionar que la arquitectura actual soporta todas estas mejoras sin reescribir el sistema.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GYM Manager reemplaza el registro manual del gimnasio con una aplicación web que concentra socios, membresías, vencimientos, personal y finanzas. Agradecer y abrir preguntas.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1790e153c480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c7fa1cb8640a8" /><Relationship Type="http://schemas.openxmlformats.org/officeDocument/2006/relationships/slideLayout" Target="/ppt/slideLayouts/slideLayout1.xml" Id="Rae5c1302c6034b6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c1302c6034b6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600f2c65641f4" /><Relationship Type="http://schemas.openxmlformats.org/officeDocument/2006/relationships/image" Target="/ppt/media/image.png" Id="R510e7999ef7b4061" /><Relationship Type="http://schemas.openxmlformats.org/officeDocument/2006/relationships/notesSlide" Target="/ppt/notesSlides/notesSlide1.xml" Id="R68b7642e13f7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fb828f75c4e98" /><Relationship Type="http://schemas.openxmlformats.org/officeDocument/2006/relationships/notesSlide" Target="/ppt/notesSlides/notesSlide2.xml" Id="R1ded9762cad4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12749e3a44165" /><Relationship Type="http://schemas.openxmlformats.org/officeDocument/2006/relationships/image" Target="/ppt/media/image2.png" Id="Re184a91253064271" /><Relationship Type="http://schemas.openxmlformats.org/officeDocument/2006/relationships/image" Target="/ppt/media/image3.png" Id="R3f3d90bdab7a4db0" /><Relationship Type="http://schemas.openxmlformats.org/officeDocument/2006/relationships/image" Target="/ppt/media/image4.png" Id="R424cc8452f53404c" /><Relationship Type="http://schemas.openxmlformats.org/officeDocument/2006/relationships/image" Target="/ppt/media/image5.png" Id="Rfedaf0da30c94685" /><Relationship Type="http://schemas.openxmlformats.org/officeDocument/2006/relationships/image" Target="/ppt/media/image6.png" Id="R1b86be80b06247ed" /><Relationship Type="http://schemas.openxmlformats.org/officeDocument/2006/relationships/image" Target="/ppt/media/image7.png" Id="R31beb27204204e63" /><Relationship Type="http://schemas.openxmlformats.org/officeDocument/2006/relationships/notesSlide" Target="/ppt/notesSlides/notesSlide3.xml" Id="R973287e6c645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ed3384f864c4d" /><Relationship Type="http://schemas.openxmlformats.org/officeDocument/2006/relationships/notesSlide" Target="/ppt/notesSlides/notesSlide4.xml" Id="Ra35e912dcf1e4d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2923616084fe9" /><Relationship Type="http://schemas.openxmlformats.org/officeDocument/2006/relationships/image" Target="/ppt/media/image8.png" Id="R66bd27799f5644df" /><Relationship Type="http://schemas.openxmlformats.org/officeDocument/2006/relationships/image" Target="/ppt/media/image9.png" Id="R43d99322f37b4193" /><Relationship Type="http://schemas.openxmlformats.org/officeDocument/2006/relationships/notesSlide" Target="/ppt/notesSlides/notesSlide5.xml" Id="R679ba2aedb5641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dd01ea1aa4cdd" /><Relationship Type="http://schemas.openxmlformats.org/officeDocument/2006/relationships/image" Target="/ppt/media/image10.png" Id="R705aeaa3b8ce4e90" /><Relationship Type="http://schemas.openxmlformats.org/officeDocument/2006/relationships/image" Target="/ppt/media/image11.png" Id="Rdbca0334dc014aa3" /><Relationship Type="http://schemas.openxmlformats.org/officeDocument/2006/relationships/image" Target="/ppt/media/image12.png" Id="R6661486026384026" /><Relationship Type="http://schemas.openxmlformats.org/officeDocument/2006/relationships/image" Target="/ppt/media/image13.png" Id="Rac71f89a9e074d01" /><Relationship Type="http://schemas.openxmlformats.org/officeDocument/2006/relationships/image" Target="/ppt/media/image14.png" Id="R7b67ae1baccd4d59" /><Relationship Type="http://schemas.openxmlformats.org/officeDocument/2006/relationships/image" Target="/ppt/media/image15.png" Id="Rd514f974582f44ba" /><Relationship Type="http://schemas.openxmlformats.org/officeDocument/2006/relationships/image" Target="/ppt/media/image16.png" Id="R94ddc3a84d9c4cca" /><Relationship Type="http://schemas.openxmlformats.org/officeDocument/2006/relationships/image" Target="/ppt/media/image17.png" Id="R8a24ca809f49478d" /><Relationship Type="http://schemas.openxmlformats.org/officeDocument/2006/relationships/image" Target="/ppt/media/image18.png" Id="R53d64d28695543e9" /><Relationship Type="http://schemas.openxmlformats.org/officeDocument/2006/relationships/notesSlide" Target="/ppt/notesSlides/notesSlide6.xml" Id="R994969e3ad1d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1938d53fc4332" /><Relationship Type="http://schemas.openxmlformats.org/officeDocument/2006/relationships/image" Target="/ppt/media/image19.png" Id="R5cb843da29a84c74" /><Relationship Type="http://schemas.openxmlformats.org/officeDocument/2006/relationships/image" Target="/ppt/media/image20.png" Id="R1acb9fb6a8354130" /><Relationship Type="http://schemas.openxmlformats.org/officeDocument/2006/relationships/notesSlide" Target="/ppt/notesSlides/notesSlide7.xml" Id="Rc08364e655f047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a67d237d43a3" /><Relationship Type="http://schemas.openxmlformats.org/officeDocument/2006/relationships/image" Target="/ppt/media/image21.png" Id="R4ac045876b6d4d90" /><Relationship Type="http://schemas.openxmlformats.org/officeDocument/2006/relationships/notesSlide" Target="/ppt/notesSlides/notesSlide8.xml" Id="R5bfb463f39664d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2b4172cfe4cbe" /><Relationship Type="http://schemas.openxmlformats.org/officeDocument/2006/relationships/image" Target="/ppt/media/image22.png" Id="Rbac787c59fba4cac" /><Relationship Type="http://schemas.openxmlformats.org/officeDocument/2006/relationships/image" Target="/ppt/media/image23.png" Id="Rc37ff88a7f9542af" /><Relationship Type="http://schemas.openxmlformats.org/officeDocument/2006/relationships/notesSlide" Target="/ppt/notesSlides/notesSlide9.xml" Id="Ra032483e8d0a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48e09cbc4814" /><Relationship Type="http://schemas.openxmlformats.org/officeDocument/2006/relationships/image" Target="/ppt/media/image24.png" Id="R9b619c7aa9d642de" /><Relationship Type="http://schemas.openxmlformats.org/officeDocument/2006/relationships/image" Target="/ppt/media/image25.png" Id="R189ec25b047f4016" /><Relationship Type="http://schemas.openxmlformats.org/officeDocument/2006/relationships/notesSlide" Target="/ppt/notesSlides/notesSlide10.xml" Id="R05cf5797bb76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176878c814aff" /><Relationship Type="http://schemas.openxmlformats.org/officeDocument/2006/relationships/image" Target="/ppt/media/image26.png" Id="R76cafa717291463c" /><Relationship Type="http://schemas.openxmlformats.org/officeDocument/2006/relationships/notesSlide" Target="/ppt/notesSlides/notesSlide11.xml" Id="R63dc15412d384e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2c5f200b4085" /><Relationship Type="http://schemas.openxmlformats.org/officeDocument/2006/relationships/image" Target="/ppt/media/image27.png" Id="R83aad7a69de948c3" /><Relationship Type="http://schemas.openxmlformats.org/officeDocument/2006/relationships/image" Target="/ppt/media/image28.png" Id="R166c08d00a2645b4" /><Relationship Type="http://schemas.openxmlformats.org/officeDocument/2006/relationships/notesSlide" Target="/ppt/notesSlides/notesSlide12.xml" Id="Re45179c42c864e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0b5b064e24c63" /><Relationship Type="http://schemas.openxmlformats.org/officeDocument/2006/relationships/image" Target="/ppt/media/image29.png" Id="Re44c8e45cde04a8c" /><Relationship Type="http://schemas.openxmlformats.org/officeDocument/2006/relationships/image" Target="/ppt/media/image30.png" Id="R2f311b4c59044f7c" /><Relationship Type="http://schemas.openxmlformats.org/officeDocument/2006/relationships/image" Target="/ppt/media/image31.png" Id="Raea08f5af22d41aa" /><Relationship Type="http://schemas.openxmlformats.org/officeDocument/2006/relationships/image" Target="/ppt/media/image32.png" Id="R9ce36832256247de" /><Relationship Type="http://schemas.openxmlformats.org/officeDocument/2006/relationships/notesSlide" Target="/ppt/notesSlides/notesSlide13.xml" Id="R3188af907c5349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b822708fc4575" /><Relationship Type="http://schemas.openxmlformats.org/officeDocument/2006/relationships/image" Target="/ppt/media/image33.png" Id="R344731b619644c61" /><Relationship Type="http://schemas.openxmlformats.org/officeDocument/2006/relationships/image" Target="/ppt/media/image34.png" Id="R8299a34553ba4a25" /><Relationship Type="http://schemas.openxmlformats.org/officeDocument/2006/relationships/image" Target="/ppt/media/image35.png" Id="R64fe352a80734e57" /><Relationship Type="http://schemas.openxmlformats.org/officeDocument/2006/relationships/notesSlide" Target="/ppt/notesSlides/notesSlide14.xml" Id="R496743f1aeb340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11b07dcfe4828" /><Relationship Type="http://schemas.openxmlformats.org/officeDocument/2006/relationships/image" Target="/ppt/media/image36.png" Id="R7dfd713840f044d5" /><Relationship Type="http://schemas.openxmlformats.org/officeDocument/2006/relationships/notesSlide" Target="/ppt/notesSlides/notesSlide15.xml" Id="R2d7720c8f7384b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bdd51acf24d79" /><Relationship Type="http://schemas.openxmlformats.org/officeDocument/2006/relationships/notesSlide" Target="/ppt/notesSlides/notesSlide16.xml" Id="R8c0ff959559246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521a2d7f84e98" /><Relationship Type="http://schemas.openxmlformats.org/officeDocument/2006/relationships/image" Target="/ppt/media/image37.png" Id="R3931169b29554065" /><Relationship Type="http://schemas.openxmlformats.org/officeDocument/2006/relationships/image" Target="/ppt/media/image38.png" Id="R81d26b0819a44a0d" /><Relationship Type="http://schemas.openxmlformats.org/officeDocument/2006/relationships/image" Target="/ppt/media/image39.png" Id="R59a4c46dd9e74c83" /><Relationship Type="http://schemas.openxmlformats.org/officeDocument/2006/relationships/image" Target="/ppt/media/image40.png" Id="R88c2f70898b24b35" /><Relationship Type="http://schemas.openxmlformats.org/officeDocument/2006/relationships/image" Target="/ppt/media/image41.png" Id="R7e077b21b7b44557" /><Relationship Type="http://schemas.openxmlformats.org/officeDocument/2006/relationships/image" Target="/ppt/media/image42.png" Id="Rc36aaf88d4d54605" /><Relationship Type="http://schemas.openxmlformats.org/officeDocument/2006/relationships/image" Target="/ppt/media/image43.png" Id="R99ed56456fc14c0b" /><Relationship Type="http://schemas.openxmlformats.org/officeDocument/2006/relationships/image" Target="/ppt/media/image44.png" Id="Rfa4e7825066646e7" /><Relationship Type="http://schemas.openxmlformats.org/officeDocument/2006/relationships/image" Target="/ppt/media/image45.png" Id="R78c121bbd29347f1" /><Relationship Type="http://schemas.openxmlformats.org/officeDocument/2006/relationships/image" Target="/ppt/media/image46.png" Id="Rfee043202fe34934" /><Relationship Type="http://schemas.openxmlformats.org/officeDocument/2006/relationships/notesSlide" Target="/ppt/notesSlides/notesSlide17.xml" Id="R1d95faab391a49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335e8a59247fd" /><Relationship Type="http://schemas.openxmlformats.org/officeDocument/2006/relationships/image" Target="/ppt/media/image47.png" Id="R6561e598953044ee" /><Relationship Type="http://schemas.openxmlformats.org/officeDocument/2006/relationships/image" Target="/ppt/media/image48.png" Id="R619b9a76aa174232" /><Relationship Type="http://schemas.openxmlformats.org/officeDocument/2006/relationships/image" Target="/ppt/media/image49.png" Id="R99fe5ea1c45b4c09" /><Relationship Type="http://schemas.openxmlformats.org/officeDocument/2006/relationships/image" Target="/ppt/media/image50.png" Id="R3daa12185a18436b" /><Relationship Type="http://schemas.openxmlformats.org/officeDocument/2006/relationships/image" Target="/ppt/media/image51.png" Id="R560057b6434c4a30" /><Relationship Type="http://schemas.openxmlformats.org/officeDocument/2006/relationships/image" Target="/ppt/media/image52.png" Id="R1b33ac1389194661" /><Relationship Type="http://schemas.openxmlformats.org/officeDocument/2006/relationships/notesSlide" Target="/ppt/notesSlides/notesSlide18.xml" Id="Re804ac0e562842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ce23f8e9d498d" /><Relationship Type="http://schemas.openxmlformats.org/officeDocument/2006/relationships/notesSlide" Target="/ppt/notesSlides/notesSlide19.xml" Id="R2bdbd30444fd4b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cfcc505b4a76" /><Relationship Type="http://schemas.openxmlformats.org/officeDocument/2006/relationships/notesSlide" Target="/ppt/notesSlides/notesSlide20.xml" Id="Rd3d463c12cb1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F53ADA-1D09-442B-88C0-1B56BE9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-10972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12000"/>
            </a:srgbClr>
          </a:solidFill>
          <a:ln xmlns:a="http://schemas.openxmlformats.org/drawingml/2006/main"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A0A12-FCE3-4FD1-9C15-0680D5A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860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8000"/>
            </a:srgbClr>
          </a:solidFill>
          <a:ln xmlns:a="http://schemas.openxmlformats.org/drawingml/2006/main" w="12700">
            <a:solidFill>
              <a:srgbClr val="F97316">
                <a:alpha val="8000"/>
              </a:srgbClr>
            </a:solidFill>
            <a:prstDash val="solid"/>
          </a:ln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e7999ef7b406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0" y="365760"/>
            <a:ext cx="3200400" cy="201168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17CFB2B-10E3-4D54-948F-E4419ECF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GYM Manager</a:t>
            </a:r>
            <a:endParaRPr sz="5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70FE3F1-844D-40BC-9E75-258D8674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3392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FB923C"/>
                </a:solidFill>
                <a:latin typeface="Arial"/>
                <a:ea typeface="Arial"/>
                <a:cs typeface="Arial"/>
              </a:rPr>
              <a:t>Sistema de Gestión para Gimnasio</a:t>
            </a:r>
            <a:endParaRPr sz="1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096438-EF6D-4C67-B9FF-2F5780B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5303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Gimnasio de Pancho — La Rioja, Argentina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16E052D-0418-41E2-90DC-0B53113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493776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2700">
            <a:solidFill>
              <a:srgbClr val="2A2A2A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561D122-2C2E-4D77-B38F-DAE17649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Alejo Diaz Allendez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FC13C9-72D5-45E9-BC48-7AD14CE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4612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7316"/>
                </a:solidFill>
                <a:latin typeface="Arial"/>
                <a:ea typeface="Arial"/>
                <a:cs typeface="Arial"/>
              </a:rPr>
              <a:t>Backend &amp; API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A2EFA72-69D7-4C9F-93F3-903BD598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016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Francisco Castro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AC23B73-AB27-4E04-838A-06CD61A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301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7316"/>
                </a:solidFill>
                <a:latin typeface="Arial"/>
                <a:ea typeface="Arial"/>
                <a:cs typeface="Arial"/>
              </a:rPr>
              <a:t>Frontend &amp; UI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0900C5-2C27-4710-8D99-647B6169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421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Axel Avalo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2C3C33-14FC-48CF-AB52-2196159C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1421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97316"/>
                </a:solidFill>
                <a:latin typeface="Arial"/>
                <a:ea typeface="Arial"/>
                <a:cs typeface="Arial"/>
              </a:rPr>
              <a:t>Base de Datos</a:t>
            </a:r>
            <a:endParaRPr sz="1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12A85A4-AF81-48CC-8AAA-15E906F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UTN — FRLR  ·  Programación IV  ·  Prof. De La Puente Ferraris  ·  Junio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83481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6062C6-5680-4DF9-8CEB-B623559C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problema resuelve?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27437-558C-4D12-A5A8-9A17833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F97316"/>
                </a:solidFill>
                <a:latin typeface="Arial"/>
                <a:ea typeface="Arial"/>
                <a:cs typeface="Arial"/>
              </a:rPr>
              <a:t>El Gimnasio de Pancho — La Rioja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BCE10C-7E66-4B8F-91F8-EA97229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80160"/>
            <a:ext cx="393192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F8E2B2-ECA8-49DC-BCE2-20F2BB81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3566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📋  Registro en papel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8D0181-A360-4231-8DB4-46792B7A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55648"/>
            <a:ext cx="3566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Socios y pagos anotados a mano, sin respaldo digital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68AFAD-D3D7-4C8B-A691-87C4672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97480"/>
            <a:ext cx="393192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ED3B91-1C14-4B4F-938A-B5543F4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807208"/>
            <a:ext cx="3566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⏰  Sin control de vencimientos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212B29-3DEB-42B0-A6CA-F7FF2351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72968"/>
            <a:ext cx="3566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Imposible saber quién debe renovar sin revisar todo manualmente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C328132-DE21-47F0-9D6B-2B77B833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3192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CC01F1-F55B-4D62-AB2C-3A260ED6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566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💰  Sin visibilidad financiera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597DAA-90E8-44EE-AC42-E31F1B6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55648"/>
            <a:ext cx="3566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Ingresos y egresos sin registro, sin balance mensual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2FCE78E-C0D9-4850-990C-2976A95A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393192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BAEE7CE-4B28-4100-A3F6-32B5BE4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807208"/>
            <a:ext cx="3566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🔍  Búsqueda imposible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FD8BB73-E2CF-4396-B14D-6252C48E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172968"/>
            <a:ext cx="3566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Encontrar un socio requería revisar todas las hojas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467291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3D9644-A6FB-4EF5-AA95-5FDA927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Stack Tecnológico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1B9647-70FB-4B62-BDD8-311C348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Qué tecnologías usamos y por qué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73A9FB-DE63-4FB1-960E-5FD07D2B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00584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4a9125306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430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6AEBB3-5E9B-426F-9D1A-6B96683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14300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Python + FastAPI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1F88A05-AA8D-4D29-AA29-618865EB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46304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Backend</a:t>
            </a:r>
            <a:endParaRPr sz="9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43DA03-9972-434E-98FA-731CBA8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71907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API REST async, validación automática con Pydantic, documentación con Swagger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049B257-7730-4CD4-B63A-70E4967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00584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d90bdab7a4d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0128" y="11430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84EF2B8-D33D-4197-96BD-1881335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14300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MySQL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77E2946-646C-4753-B9C4-486A78B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6304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Base de Datos</a:t>
            </a:r>
            <a:endParaRPr sz="9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538F6DC-896E-4604-BA4D-E173059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1907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Motor relacional configurado mediante DATABASE_URL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BAD7DCF-5629-406C-97DC-0BCE484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00584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cc8452f53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3056" y="11430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512093E0-4C53-4AEF-8FBB-FBC1BEB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14300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React + Tailwind</a:t>
            </a:r>
            <a:endParaRPr sz="13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A01BD53-E1D8-4667-9ABF-6C67A24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Frontend</a:t>
            </a:r>
            <a:endParaRPr sz="9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79186B98-B2E3-4C45-A0DB-23A48ED6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71907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Interfaz SPA con React Router, tema oscuro con Tailwind CSS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A83F490-C123-43C1-861B-D268C54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69748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af0da30c9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3464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5842B62C-04AE-4D9F-AAF3-CCFB4CD9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3464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SQLAlchemy ORM</a:t>
            </a:r>
            <a:endParaRPr sz="13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5F7D6E6-94A8-4660-B116-B5E1C041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5468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Persistencia</a:t>
            </a:r>
            <a:endParaRPr sz="9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16EDF36-1C6D-4370-AD69-2CD9A906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41071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Mapeo objeto-relacional asíncrono para MySQL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875AD4FB-F0F5-4516-A447-FDD9C5E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69748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6be80b06247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0128" y="283464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77400641-5722-417B-8B2E-3DA33954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83464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JWT + bcrypt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B43D01AA-E52F-43E9-9042-3CB95AB9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15468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Seguridad</a:t>
            </a:r>
            <a:endParaRPr sz="9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7DB8FC6-5C20-4BD4-AD91-0E161F5B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1071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Tokens de autenticación y hash seguro de contraseñas</a:t>
            </a:r>
            <a:endParaRPr sz="10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A12EDD98-DB40-4575-93E6-55E31483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697480"/>
            <a:ext cx="269748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eb2720420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3056" y="283464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3E265981-9C4B-44B6-A375-9AB63990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834640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Git + GitHub</a:t>
            </a:r>
            <a:endParaRPr sz="13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E9F72587-D700-44B7-B146-44D66FDE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15468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Control de versiones</a:t>
            </a:r>
            <a:endParaRPr sz="9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AD80BDD-FF2F-4241-BCD4-D4DC738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410712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Historial de commits por integrante, respaldo remoto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40563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F95DDE-9BED-49F0-8039-4A1BB98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Cambios respecto a la propuesta original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0D46-5E50-4620-BBB9-3A2A384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0120"/>
            <a:ext cx="18288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F373C4-EC6C-4B50-B79E-B682C46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60120"/>
            <a:ext cx="1691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A9EB43-935A-4E6F-B469-02332CB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960120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D6554D-D6DF-4478-96B6-126F84B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960120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Propuesta original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4DFBB0B-E95E-469E-B2F5-1872B59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960120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A3F20F-7BD8-4A1C-BA9E-EC328C6A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960120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entregado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65BEC03-8A1B-409D-A211-5819E12A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18488"/>
            <a:ext cx="18288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A114703-7083-444A-B868-C0E04FBE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18488"/>
            <a:ext cx="1691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Backend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90B718D-0F19-453D-AEB3-6313570B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618488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68B982-BDCF-4F77-9E31-D8D4256F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18488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93B"/>
                </a:solidFill>
                <a:latin typeface="Arial"/>
                <a:ea typeface="Arial"/>
                <a:cs typeface="Arial"/>
              </a:rPr>
              <a:t>Node.js + Express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C7D4A4B-AAFF-42D9-829F-D5A2A5C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618488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5D21FE-136F-4DF8-B5E3-B3A5FC9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618488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66534"/>
                </a:solidFill>
                <a:latin typeface="Arial"/>
                <a:ea typeface="Arial"/>
                <a:cs typeface="Arial"/>
              </a:rPr>
              <a:t>Python + FastAPI ✓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F02463F-6719-4E38-B925-DC8519A4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276856"/>
            <a:ext cx="18288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412C8D-93D8-4928-9B88-3200D284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76856"/>
            <a:ext cx="1691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Base de datos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3EA15B-96BD-4D26-9E37-9D7F125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276856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F711BA-D499-4918-9034-9EDCBCF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276856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93B"/>
                </a:solidFill>
                <a:latin typeface="Arial"/>
                <a:ea typeface="Arial"/>
                <a:cs typeface="Arial"/>
              </a:rPr>
              <a:t>MySQL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3E576AD-82D8-418D-9D63-0B3709CA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276856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97D3AC-3974-44DD-904D-780B29F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76856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66534"/>
                </a:solidFill>
                <a:latin typeface="Arial"/>
                <a:ea typeface="Arial"/>
                <a:cs typeface="Arial"/>
              </a:rPr>
              <a:t>MySQL + aiomysql ✓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7EDCA72-FEC4-42A7-99B2-5AB5522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35224"/>
            <a:ext cx="18288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86CC913-44A0-4F36-ADBE-F423B1C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35224"/>
            <a:ext cx="1691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Tiempo total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162A6B0-EE33-4EEA-9002-8183A01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935224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6837E25-C3DC-4955-8F83-1747005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935224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93B"/>
                </a:solidFill>
                <a:latin typeface="Arial"/>
                <a:ea typeface="Arial"/>
                <a:cs typeface="Arial"/>
              </a:rPr>
              <a:t>6-8 semanas estimadas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3E92D9F-49CC-4A46-A0AA-21694C5B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35224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5FF089E-3552-43D9-9737-29EEB7E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935224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66534"/>
                </a:solidFill>
                <a:latin typeface="Arial"/>
                <a:ea typeface="Arial"/>
                <a:cs typeface="Arial"/>
              </a:rPr>
              <a:t>~8 semanas de desarrollo efectivo</a:t>
            </a:r>
            <a:endParaRPr sz="12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FEDF1FC-511A-42A9-834B-AEF8A5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593592"/>
            <a:ext cx="18288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BDCAF8E-A490-4A45-B356-B1E35F3C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93592"/>
            <a:ext cx="1691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Módulos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E6578CC-9B9F-44EA-B5A4-FC8247DC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93592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23CBFA9-CA19-45AE-BB73-39F59F2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593592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93B"/>
                </a:solidFill>
                <a:latin typeface="Arial"/>
                <a:ea typeface="Arial"/>
                <a:cs typeface="Arial"/>
              </a:rPr>
              <a:t>5 módulos</a:t>
            </a:r>
            <a:endParaRPr sz="12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E508E33-797E-41FF-B252-BBE7ED8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93592"/>
            <a:ext cx="30175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8058979-743B-4F3C-84B7-DAB376F6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593592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66534"/>
                </a:solidFill>
                <a:latin typeface="Arial"/>
                <a:ea typeface="Arial"/>
                <a:cs typeface="Arial"/>
              </a:rPr>
              <a:t>9 módulos entregados</a:t>
            </a:r>
            <a:endParaRPr sz="12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014C4A4-6AC0-442B-BD68-FD4DBDB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160520"/>
            <a:ext cx="850392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ED7AA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2B3DBA9-D017-468F-9A75-0BD6969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2400E"/>
                </a:solidFill>
                <a:latin typeface="Arial"/>
                <a:ea typeface="Arial"/>
                <a:cs typeface="Arial"/>
              </a:rPr>
              <a:t>💡  ¿Por qué Python? — Más cómodos con la sintaxis + teníamos un proyecto base de clínica médica con los routers, endpoints y componentes React ya hechos. Eso nos permitió construir el backend en 6 días.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75369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BF267F-154F-413D-B020-E23B4E2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Cronograma real — 12 días de desarrollo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6C6FC0-3C74-4FAA-A640-C51B80B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Basado en el historial de commits de GitHub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AE525D-9F87-4114-A73D-8C224E7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868680"/>
            <a:ext cx="416052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BFDBFE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d27799f56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93268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119D865-D99E-4BF9-915A-DFC8670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932688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40AF"/>
                </a:solidFill>
                <a:latin typeface="Arial"/>
                <a:ea typeface="Arial"/>
                <a:cs typeface="Arial"/>
              </a:rPr>
              <a:t>BACKEND — Alejo Diaz Allendez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7A69B0-2B1C-462D-90D3-DCB69F3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207008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17/06 al 22/06</a:t>
            </a:r>
            <a:endParaRPr sz="1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A65F501-1F48-4B8C-AB57-7A12AB39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819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A008A0-B823-4680-A5FF-D85B0C8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36192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17/06 — Modelos de datos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4552075-D20F-429E-9481-BC4556F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9110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00A18E4-9405-401A-9778-13A21815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65376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18/06 — Schemas de validación</a:t>
            </a:r>
            <a:endParaRPr sz="10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7658C46-DB2A-43A6-A02E-B5DDF81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40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CBCA4F7-9669-46E2-A4CA-C5EC474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19/06 — CRUD miembros y disciplinas</a:t>
            </a:r>
            <a:endParaRPr sz="10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0212DFF-B049-4904-AA2A-7BD44AEA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56946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68C4EE6-B812-4FAF-93BC-9878D547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23744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20/06 — CRUD instructores y membresías</a:t>
            </a:r>
            <a:endParaRPr sz="10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8839090-CA6B-4541-917F-247EF99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89864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6AA964A-CD99-4221-8BE6-85CCF84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5292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21/06 — Login y gestión de usuarios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DB092ED-5FDE-4165-AA7A-B551DD5B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22783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B7D0268-37D7-46B6-BC24-5274F34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82112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22/06 — Módulo de finanzas y gastos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50869C8-92E3-4A79-8383-1E8CA2F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868680"/>
            <a:ext cx="416052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700">
            <a:solidFill>
              <a:srgbClr val="BBF7D0"/>
            </a:solidFill>
            <a:prstDash val="solid"/>
          </a:ln>
        </p:spPr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99322f37b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93268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E3D7D33-8943-4399-8851-8985D29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932688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FRONTEND — Francisco Castro</a:t>
            </a:r>
            <a:endParaRPr sz="11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5FE09D3-2B7B-4C85-AB69-7A44E8CE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207008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23/06 al 28/06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AADC677C-B814-40E6-95C1-9864678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15819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E64FE0D-0366-40FB-AE0F-168170E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536192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23/06 — Estructura del frontend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2B8E230-4229-4D8A-BB28-4205A98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19110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1FDF782-403B-4936-A46C-65EC5EBE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865376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24/06 — Autenticación y login</a:t>
            </a:r>
            <a:endParaRPr sz="10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961512DE-A790-4F4C-8E11-ECCD09B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240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BB52C0CA-6C21-4676-B490-FE3DAAE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19456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25/06 — Layout y página principal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6EA8621C-BF9B-46DB-9D9D-55042686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56946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8548D6B-1D90-48E3-B697-17FACBC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523744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26/06 — Módulo miembros y disciplinas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13A3C54-6423-42B1-85E1-3BFE92C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89864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BB7BC34-5D8C-4201-87F6-967C78A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85292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27/06 — Instructores, membresías y vencidos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E4824B39-3543-47F1-8FF4-FC56E465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322783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2700">
            <a:solidFill>
              <a:srgbClr val="22C55E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985687C-DB2F-48B2-9E92-6FF8BA5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182112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28/06 — Trabajadores, finanzas y perfil</a:t>
            </a:r>
            <a:endParaRPr sz="105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C1E08CEA-0240-4404-8D82-5E7581EE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133088"/>
            <a:ext cx="8503920" cy="758952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DD6FE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347F0A7-60A3-4D31-9280-044FC6E1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8808"/>
            <a:ext cx="822960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C1D95"/>
                </a:solidFill>
                <a:latin typeface="Arial"/>
                <a:ea typeface="Arial"/>
                <a:cs typeface="Arial"/>
              </a:rPr>
              <a:t>🗃️  Base de datos — Axel Avalo (cursada, etapa previa al desarrollo final)  |  Desarrollo final presencial entre Alejo y Francisco, coordinado por Discord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56923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ECABBA-2E94-4574-96D2-A3E9532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Recorrido funcional del sistema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0F447B-A01A-40BD-B25C-0F95D252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aeaa3b8ce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" y="1078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0251CA-4A17-46F7-ABAD-7C87468F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6984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Dashboard</a:t>
            </a:r>
            <a:endParaRPr sz="13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208CCA0-60D5-43AD-AC68-A12A1A8F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41732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Estadísticas en tiempo real del gimnasio</a:t>
            </a:r>
            <a:endParaRPr sz="10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B0FA8E2-EA39-4D4F-B7FC-9252EBE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96012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a0334dc014a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0984" y="1078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57AD9E0-9B6D-4967-B4E5-734217B8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06984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Miembros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4998041-570D-4DAB-9B62-F648C86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41732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Alta, edición, baja lógica y búsqueda de socios</a:t>
            </a:r>
            <a:endParaRPr sz="105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E388D4A-5CFA-4DD1-AE6D-30231A9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96012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48602638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8776" y="1078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9630769-6A3C-42E2-A0DE-62833E01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06984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Membresías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3746D2D-CA0A-4123-A66C-88D27DB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1732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Control de estado: Nuevo / Activo / Vencido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089AF71B-E2A2-458B-9419-BB314B2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8600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1f89a9e074d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" y="2404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2E59BD5C-7E55-4194-A929-1DDAC1AA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9572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Vencidos</a:t>
            </a:r>
            <a:endParaRPr sz="13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3CE3737-5665-437F-8CF4-B96AD68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7432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Lista automática de socios que deben renovar</a:t>
            </a:r>
            <a:endParaRPr sz="105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86176239-6FD9-46B9-B5BF-EDD28446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28600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ae1baccd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0984" y="2404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FB639777-B52F-4904-8327-48F2C19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9572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Disciplinas</a:t>
            </a:r>
            <a:endParaRPr sz="13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F704C916-F047-4371-992A-B72B026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7432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Actividades ofrecidas con precio mensual</a:t>
            </a:r>
            <a:endParaRPr sz="105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59738D93-21D0-455D-B6B2-858DE924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28600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4f974582f44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8776" y="2404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21385B10-47F8-4047-B29F-0F4ACB17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39572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Instructores</a:t>
            </a:r>
            <a:endParaRPr sz="130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7914FE5A-C5BD-4A69-A6D6-5CA8376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7432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Gestión del plantel docente por disciplina</a:t>
            </a:r>
            <a:endParaRPr sz="1050"/>
          </a:p>
        </p:txBody>
      </p:sp>
      <p:sp>
        <p:nvSpPr>
          <p:cNvPr id="27" name="Shape 19">
            <a:extLst xmlns:a="http://schemas.openxmlformats.org/drawingml/2006/main">
              <a:ext uri="{FF2B5EF4-FFF2-40B4-BE49-F238E27FC236}">
                <a16:creationId xmlns:a16="http://schemas.microsoft.com/office/drawing/2014/main" id="{E3CC5FE4-5181-4915-995C-E9A1E15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1188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dc3a84d9c4c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" y="37307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843B11ED-2641-4FF9-94FD-7C0488C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2160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Trabajadores</a:t>
            </a:r>
            <a:endParaRPr sz="13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F7F11C1C-81A3-48DC-B541-65D3102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06908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Perfiles con sueldo, foto y acceso al sistema</a:t>
            </a:r>
            <a:endParaRPr sz="105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268172E5-85AB-440F-8F1B-F7E0A0F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61188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7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4ca809f49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0984" y="37307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AC6B7FCD-9090-4EB1-AE2A-1F4F106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72160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Finanzas</a:t>
            </a:r>
            <a:endParaRPr sz="130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E293388A-DEAB-4611-B9EA-D40E9D96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406908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Gastos, pagos por día y cierre mensual</a:t>
            </a:r>
            <a:endParaRPr sz="1050"/>
          </a:p>
        </p:txBody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0765F6CB-79FE-4F15-A1F0-849325BC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611880"/>
            <a:ext cx="274320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8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64d286955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8776" y="37307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D69DCC1D-8A86-44AD-9B89-DB05AD4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721608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Autenticación</a:t>
            </a:r>
            <a:endParaRPr sz="130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76963A37-315C-453B-A51D-1B08107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06908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Roles root, admin y empleado con JWT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98932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DF8620-7F42-46C6-9BA3-FFF59D6B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Inicio de sesión y autenticación</a:t>
            </a:r>
            <a:endParaRPr sz="2800"/>
          </a:p>
        </p:txBody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843da29a84c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286000" y="777240"/>
            <a:ext cx="4572000" cy="283464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3949948-6E1D-46E6-BB3C-656C3A9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7C4025A-3E53-40D6-9FC0-9A808189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CA24C24-E277-4F06-B489-86B8C2C7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69B8DA0-C66B-4412-A81E-9E3145E8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B7F140C-6F76-4605-AAF0-BEC6990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03320"/>
            <a:ext cx="393192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0C9762D-52B2-4EFF-BA6A-AD12828E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🔑 JWT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DC092DD-AA69-4E9F-A61B-ED5DBE7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50792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Token en cada request HTTP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C7DA38A-86B7-4EE8-8899-C2B8B97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03320"/>
            <a:ext cx="393192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7C7B646-27E1-4145-A880-1EB454EE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64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🔒 bcrypt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0A5513-5EF4-4243-B76A-CD3F97E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50792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Hash seguro de contraseñas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7818238-EF12-4751-AA32-B865307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03320"/>
            <a:ext cx="393192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CF5E239-450E-486D-95F0-5E4EE95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👤 Roles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D701F43-46BE-4674-A90D-9D47A1EE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50792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root, admin y empleado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C46D7C5-F637-4C11-AE13-AB80C0A2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03320"/>
            <a:ext cx="393192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D2D2D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65D983-FF60-46FF-8E2B-F92AF8D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64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🤖 Auto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F320D7F-6809-4C4B-9EF6-35147962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50792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JWT para acceder a rutas protegidas</a:t>
            </a:r>
            <a:endParaRPr sz="1100"/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b9fb6a8354130"/>
          <a:srcRect xmlns:a="http://schemas.openxmlformats.org/drawingml/2006/main" l="11965" t="0" r="11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1219200"/>
            <a:ext cx="2743200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</p:spTree>
    <p:extLst>
      <p:ext uri="{BB962C8B-B14F-4D97-AF65-F5344CB8AC3E}">
        <p14:creationId xmlns:p14="http://schemas.microsoft.com/office/powerpoint/2010/main" val="544541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322C9CA-4D54-4F0B-9A4F-8A5412E4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BE1F25-BB60-4201-B52F-F55BDE3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Resumen operativo del gimnasio en una sola pantalla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2D964B-D3C4-483B-AA4E-FE65B6D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8412480" cy="384048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045876b6d4d90"/>
          <a:srcRect xmlns:a="http://schemas.openxmlformats.org/drawingml/2006/main" l="0" t="2626" r="0" b="2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15568"/>
            <a:ext cx="8229600" cy="37033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0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3EE097-E8B8-4603-99C9-6C7865D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Módulo: Miembros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A77A50-8FA3-47F0-A60B-CE263CA7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31520"/>
            <a:ext cx="54864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787c59fba4ca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804672"/>
            <a:ext cx="5340096" cy="27797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9CBAEC0-8E59-41BA-B967-0F633014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731520"/>
            <a:ext cx="2834640" cy="292608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ff88a7f9542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62472" y="804672"/>
            <a:ext cx="2688336" cy="2779776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F6B317D-6BB6-4955-9DA0-4120EC1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8587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033FD2-9020-40B9-B069-F6BE44A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13048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Alta, edición y baja lógica (el registro no se borra)</a:t>
            </a:r>
            <a:endParaRPr sz="11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82D1B7E-56AF-4786-8A6E-F767116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12394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DB03DC08-7371-4427-B817-CE656E3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78224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Búsqueda en tiempo real por nombre, DNI o correo</a:t>
            </a:r>
            <a:endParaRPr sz="11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19722C8-7D3D-43E7-BE52-AFCAA388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3891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B6EEFB9-5AD7-4FCA-B31E-779B91ED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Filtros: Todos / Activos / Inactivos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ACEB326-43A7-4FFB-B670-EE44B40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6542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871BD06-BC0D-48FE-A389-8E669B5A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08576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Pago por Día para visitantes eventuales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56027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606390-C611-45BF-B146-67EB0142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Módulo: Membresías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2E7E97-8AFF-43D5-BECD-7ED398B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3232"/>
            <a:ext cx="566928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19c7aa9d642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786384"/>
            <a:ext cx="5522976" cy="27797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165F59B-8E92-4A87-80B6-F5F155C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713232"/>
            <a:ext cx="2743200" cy="292608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ec25b047f40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9632" y="786384"/>
            <a:ext cx="2596896" cy="277977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9FB06DE-E707-4060-9045-DE5F35A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7647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Estados:</a:t>
            </a:r>
            <a:endParaRPr sz="12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59D80006-6807-4C14-BA05-1EC966D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76472"/>
            <a:ext cx="137160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12700">
            <a:solidFill>
              <a:srgbClr val="052E16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6050C10-4616-4DCB-9B92-5F9A1AB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76472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🟢 Activo</a:t>
            </a:r>
            <a:endParaRPr sz="10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31CB1E8-13F9-42DE-BCD5-2B78559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3776472"/>
            <a:ext cx="137160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D0000"/>
          </a:solidFill>
          <a:ln xmlns:a="http://schemas.openxmlformats.org/drawingml/2006/main" w="12700">
            <a:solidFill>
              <a:srgbClr val="2D000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0F6CDBC-2E74-43EA-AD47-3A9D8AC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3776472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🔴 Vencido</a:t>
            </a:r>
            <a:endParaRPr sz="1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3D5F577-3591-4637-A1CD-0A4C906D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76472"/>
            <a:ext cx="137160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9DC0ECD-4C66-4E52-B77C-16B0A74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76472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🔵 Nuevo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0D36F1-BD9E-4250-B694-AFBDD891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20624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A910AFF-8983-4CA4-AF55-91970B3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169664"/>
            <a:ext cx="8321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Vincula miembro + disciplina con precio y fechas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7EC5004-D237-4A58-8478-C93465B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42569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CA5A32B-39BD-43F5-97E4-325D2D3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389120"/>
            <a:ext cx="8321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Vencimiento automático a 30 días desde el inicio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75A1E91-9978-4CE1-9213-09D5B24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64515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85CFF00-57F7-4771-9C41-144060E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608576"/>
            <a:ext cx="8321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Botón Renovar: nueva membresía desde hoy por 30 días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9CCADDC-ACBB-430D-847F-32B34C08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8646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2E07C29-6817-4EDE-99AE-0008BDD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828032"/>
            <a:ext cx="8321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El sistema detecta si es cliente nuevo o de retorno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68553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741E7B-2E2D-4EDB-9039-1CACA53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Módulo: Vencidos (Deudores)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477E2A-B580-42CD-A8A0-AFE73173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31520"/>
            <a:ext cx="8595360" cy="315468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afa717291463c"/>
          <a:srcRect xmlns:a="http://schemas.openxmlformats.org/drawingml/2006/main" l="0" t="12729" r="0" b="12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472" y="804672"/>
            <a:ext cx="8449056" cy="299923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A1D30EC-A9C2-49C6-AA2E-0C2A279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041648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Código de urgencia:</a:t>
            </a:r>
            <a:endParaRPr sz="1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47ED63C-809B-4A8F-8A80-9EE879A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023360"/>
            <a:ext cx="192024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D0000"/>
          </a:solidFill>
          <a:ln xmlns:a="http://schemas.openxmlformats.org/drawingml/2006/main" w="12700">
            <a:solidFill>
              <a:srgbClr val="2D0000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40730F-9EBB-49F5-8384-52CF59E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023360"/>
            <a:ext cx="1920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🔴 Crítico (+30 días)</a:t>
            </a:r>
            <a:endParaRPr sz="1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BD8FF80-8D7B-467A-9647-3D22620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023360"/>
            <a:ext cx="192024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D1200"/>
          </a:solidFill>
          <a:ln xmlns:a="http://schemas.openxmlformats.org/drawingml/2006/main" w="12700">
            <a:solidFill>
              <a:srgbClr val="2D120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39D43C-717A-4D2B-A8B1-D48E4EB1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023360"/>
            <a:ext cx="1920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🟠 Moderado 15-30d</a:t>
            </a:r>
            <a:endParaRPr sz="1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472868F-3AD3-4E63-80FB-5CF76C79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23360"/>
            <a:ext cx="201168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E1B00"/>
          </a:solidFill>
          <a:ln xmlns:a="http://schemas.openxmlformats.org/drawingml/2006/main" w="12700">
            <a:solidFill>
              <a:srgbClr val="1E1B0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874AECC-8A2D-42B7-B59B-14F23BA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23360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AB308"/>
                </a:solidFill>
                <a:latin typeface="Arial"/>
                <a:ea typeface="Arial"/>
                <a:cs typeface="Arial"/>
              </a:rPr>
              <a:t>🟡 Reciente -15 días</a:t>
            </a:r>
            <a:endParaRPr sz="1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181A8AD-9C5B-40B3-BDDB-F30E9177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480560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Desde esta pantalla se puede renovar la membresía directamente con un clic.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06411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B2460E-BAAD-4172-BF0F-0F0AB4A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Módulo: Disciplinas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38E0CF4-0EE7-4E88-A7AD-488A255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3232"/>
            <a:ext cx="53035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d7a69de948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786384"/>
            <a:ext cx="5157216" cy="27797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341D04F-F602-457C-AE44-CD97113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713232"/>
            <a:ext cx="30175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c08d00a2645b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79592" y="786384"/>
            <a:ext cx="2871216" cy="2779776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394B4F2-99BD-4942-B75E-57021786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822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3E8379D-4118-4193-B794-C221D43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785616"/>
            <a:ext cx="83210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Nombre, descripción, precio mensual e imagen (base64)</a:t>
            </a:r>
            <a:endParaRPr sz="11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5AA3405-5CB1-4EA8-AA62-4D2551BE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087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0EE5921-3329-408F-BB51-10F37F1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050792"/>
            <a:ext cx="83210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Base de la que dependen todas las membresías</a:t>
            </a:r>
            <a:endParaRPr sz="11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2C83DDD-1418-4E89-827E-1C6D0D2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3525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4E0D68A-8CB4-4DB9-B550-8F3AE325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315968"/>
            <a:ext cx="83210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Las disciplinas definen el precio de la membresía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D3C8C47-7770-40E8-AE7D-CB6687C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6177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A50BF11-8E7B-49B3-B2E3-867A6DBA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581144"/>
            <a:ext cx="83210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Imagen almacenada directamente en la base de datos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33450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09FF99-DBE1-4685-B878-7CCEB20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Instructores &amp; Trabajadores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44F13E-1A86-4782-8055-5B17C5C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3232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Instructores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65FA96-C8B1-421E-B597-453CF21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411480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c8e45cde04a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1078992"/>
            <a:ext cx="3968496" cy="1682496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654CCF0-4762-4C2C-A388-30DCE245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005840"/>
            <a:ext cx="4315968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11b4c59044f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99432" y="1078992"/>
            <a:ext cx="4169664" cy="168249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E33819D-478B-419F-B129-161B54C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44368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Gestión de Trabajadores</a:t>
            </a:r>
            <a:endParaRPr sz="14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19082B57-68C3-4DCB-B193-4FC8B0C7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55264"/>
            <a:ext cx="4114800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08f5af22d41a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3328416"/>
            <a:ext cx="3968496" cy="1453896"/>
          </a:xfrm>
          <a:prstGeom xmlns:a="http://schemas.openxmlformats.org/drawingml/2006/main" prst="rect">
            <a:avLst/>
          </a:prstGeom>
        </p:spPr>
      </p:pic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0700561C-4245-47A5-B36E-E0E2B48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255264"/>
            <a:ext cx="431596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36832256247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99432" y="3328416"/>
            <a:ext cx="4169664" cy="14538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223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4735D9-B39B-4FD8-ACC7-82147BD5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Módulo: Finanzas</a:t>
            </a:r>
            <a:endParaRPr sz="2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DA55E2-2DD5-4F84-A8E4-2AC7416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3232"/>
            <a:ext cx="54864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731b619644c6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" y="786384"/>
            <a:ext cx="5340096" cy="27797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9EF5B77-8790-472B-8434-C02F800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13232"/>
            <a:ext cx="2880360" cy="1389888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9a34553ba4a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16752" y="786384"/>
            <a:ext cx="2734056" cy="124358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6935CC9-45DB-4D08-811C-370D4A51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9424"/>
            <a:ext cx="2880360" cy="1389888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222222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352a80734e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16752" y="2322576"/>
            <a:ext cx="2734056" cy="1243584"/>
          </a:xfrm>
          <a:prstGeom xmlns:a="http://schemas.openxmlformats.org/drawingml/2006/main" prst="rect">
            <a:avLst/>
          </a:prstGeom>
        </p:spPr>
      </p:pic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FE0FE088-8E83-4BF7-834D-D9B11BE2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49040"/>
            <a:ext cx="530352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2700">
            <a:solidFill>
              <a:srgbClr val="2D2D2D"/>
            </a:solidFill>
            <a:prstDash val="solid"/>
          </a:ln>
        </p:spPr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7609FBF-1B1C-419C-9828-AC41E2E3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💸 Gastos</a:t>
            </a:r>
            <a:endParaRPr sz="110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B44F036-14E2-4032-9437-6D870F8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730752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Egresos por categoría (insumos, sueldos, servicios)</a:t>
            </a:r>
            <a:endParaRPr sz="1050"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DE908937-269B-43D7-8B97-70276B6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49040"/>
            <a:ext cx="530352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2700">
            <a:solidFill>
              <a:srgbClr val="2D2D2D"/>
            </a:solidFill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9F97342-C4F3-41AC-B316-CF8DAF6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🎫 Pago por Día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5DA1380-5A5D-474F-9C9D-ED47B64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160520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Visitas eventuales sin membresía mensual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75CB0B4A-E9A6-41AB-A783-9D39D28A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49040"/>
            <a:ext cx="530352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2700">
            <a:solidFill>
              <a:srgbClr val="2D2D2D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1D4DDCEB-DC6B-4880-8CD0-C56DED4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90288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📊 Cierre de Caja</a:t>
            </a:r>
            <a:endParaRPr sz="11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A2563388-E09D-42EA-B694-65277F6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590288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Balance mensual: ingresos − egresos = ganancia neta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7227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C12BB9-7B32-41EC-8220-2C03254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Modelo de Base de Datos — ERD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31126A-4783-48B8-BB31-C35553A3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8 tablas, MySQL en producción</a:t>
            </a:r>
            <a:endParaRPr sz="1300"/>
          </a:p>
        </p:txBody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d713840f044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960120"/>
            <a:ext cx="8229600" cy="3931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57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F5926D-F59F-42D8-AF12-10FA8064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Arquitectura del Backend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EDF680-9FDD-4424-BED2-43C6944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FastAPI — modelo en capas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907089-ED91-4D49-8F71-C6179DC4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960120"/>
            <a:ext cx="548640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B6F993-58DE-479F-AFF2-7487005A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005840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Cliente (React)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2BB8DC-6615-43B9-A417-8039F167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280160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Fetch API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EF92A09-3EA8-4115-AB47-E3D3B23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18488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B82F6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E7D78C7-8AF6-4AEC-A4FE-7A85FF83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55648"/>
            <a:ext cx="548640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BE7912-DB4E-48FF-B158-642B890B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01368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API REST (FastAPI)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993C0-1069-4BD6-9DA6-E9EBE2B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075688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Routers + Endpoints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200A21-1780-4C22-B3AF-DDB7FBF8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14016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9731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03E4397-2CEB-42A1-96BD-4057AF9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1176"/>
            <a:ext cx="548640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22C55E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1605EAA-F3F7-47F4-A843-B110C298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96896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Schemas (Pydantic)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D022D6-0E00-4EAD-979A-9CDB1C1B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871216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Validación entrada/salida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DF54989-ED66-4AD7-94C4-8AB84A8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209544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2C55E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36B7095-0EA9-4148-8816-B432ACC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6704"/>
            <a:ext cx="548640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A78BFA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8DDE1B-171D-4BCA-9679-C856C2C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392424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ORM (SQLAlchemy)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121800-400C-4A01-B461-9AAB781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6667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Mapeo objeto-relacional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BDA7-CA99-41F4-8962-0050503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05072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78BF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9EEC102-6C37-4ECB-9EA9-6E2F9FC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42232"/>
            <a:ext cx="548640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64748B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AF888BC-562A-47CA-8D2A-0D99C404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187952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MySQL / SQLite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D4052A-8D83-442E-80FB-740E03E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462272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 de datos relacional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3BF8054-F464-44D7-A2A5-E88F4DB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1417320" cy="397764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ED7A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FC102E-76E7-4278-9A8C-2A40305F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097280"/>
            <a:ext cx="13258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2400E"/>
                </a:solidFill>
                <a:latin typeface="Arial"/>
                <a:ea typeface="Arial"/>
                <a:cs typeface="Arial"/>
              </a:rPr>
              <a:t>Flujo de un request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288732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72A285-E612-4999-B3FC-9AA97E0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Testeo de la aplicación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747FE8-2358-4BC9-B615-1F0A7E0A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Pruebas manuales exhaustivas en cada módulo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957B5D-02B0-4F0D-B886-9F2D8C2A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005840"/>
            <a:ext cx="416052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1169b2955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" y="111556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82F674E-061F-4AFD-9808-16E6F8C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5568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Backend — Swagger UI</a:t>
            </a:r>
            <a:endParaRPr sz="1350"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26b0819a44a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" y="171907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CD2BFA0-DB32-415C-8A45-4628DE00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70078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CRUD completo de cada entidad</a:t>
            </a:r>
            <a:endParaRPr sz="1150"/>
          </a:p>
        </p:txBody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c46dd9e74c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" y="2267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BFA15A01-0ADB-4287-BE97-3A2EB7E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24942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Autenticación con token JWT (con/sin token)</a:t>
            </a:r>
            <a:endParaRPr sz="1150"/>
          </a:p>
        </p:txBody>
      </p:sp>
      <p:pic>
        <p:nvPicPr>
          <p:cNvPr id="4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2f70898b24b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" y="28163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A1D020EC-AC9F-4AB2-98D5-BFC7ED9E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79806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Comportamiento ante datos inválidos</a:t>
            </a:r>
            <a:endParaRPr sz="1150"/>
          </a:p>
        </p:txBody>
      </p:sp>
      <p:pic>
        <p:nvPicPr>
          <p:cNvPr id="4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77b21b7b445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" y="33649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EFE10D01-12DC-4532-97B3-1FEBD8A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Seed automático del usuario root</a:t>
            </a:r>
            <a:endParaRPr sz="1150"/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98CE3FA0-F25F-48CF-AEF6-2A1F90FD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05840"/>
            <a:ext cx="416052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aaf88d4d5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9472" y="111556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6989CD62-D687-4005-8A6B-851CE41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15568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Frontend — Pruebas manuales</a:t>
            </a:r>
            <a:endParaRPr sz="1350"/>
          </a:p>
        </p:txBody>
      </p:sp>
      <p:pic>
        <p:nvPicPr>
          <p:cNvPr id="5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d56456fc14c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9472" y="171907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0">
            <a:extLst xmlns:a="http://schemas.openxmlformats.org/drawingml/2006/main">
              <a:ext uri="{FF2B5EF4-FFF2-40B4-BE49-F238E27FC236}">
                <a16:creationId xmlns:a16="http://schemas.microsoft.com/office/drawing/2014/main" id="{2B404438-8C92-4427-89AC-B8D40822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70078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Login y redirección por estado de autenticación</a:t>
            </a:r>
            <a:endParaRPr sz="1150"/>
          </a:p>
        </p:txBody>
      </p:sp>
      <p:pic>
        <p:nvPicPr>
          <p:cNvPr id="5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e7825066646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9472" y="2267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1">
            <a:extLst xmlns:a="http://schemas.openxmlformats.org/drawingml/2006/main">
              <a:ext uri="{FF2B5EF4-FFF2-40B4-BE49-F238E27FC236}">
                <a16:creationId xmlns:a16="http://schemas.microsoft.com/office/drawing/2014/main" id="{2A80D405-9272-44FA-9AE4-00EE5D7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24942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Buscador en tiempo real (Miembros y Membresías)</a:t>
            </a:r>
            <a:endParaRPr sz="1150"/>
          </a:p>
        </p:txBody>
      </p:sp>
      <p:pic>
        <p:nvPicPr>
          <p:cNvPr id="5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121bbd293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9472" y="28163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C540F6B6-20CF-4F44-B5FB-8A9A2741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79806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Renovar membresía y actualización inmediata</a:t>
            </a:r>
            <a:endParaRPr sz="1150"/>
          </a:p>
        </p:txBody>
      </p:sp>
      <p:pic>
        <p:nvPicPr>
          <p:cNvPr id="6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043202fe3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9472" y="33649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13">
            <a:extLst xmlns:a="http://schemas.openxmlformats.org/drawingml/2006/main">
              <a:ext uri="{FF2B5EF4-FFF2-40B4-BE49-F238E27FC236}">
                <a16:creationId xmlns:a16="http://schemas.microsoft.com/office/drawing/2014/main" id="{21783C73-8395-444A-B78A-12099C9B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346704"/>
            <a:ext cx="3520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Deudores actualiza tras renovar</a:t>
            </a:r>
            <a:endParaRPr sz="1150"/>
          </a:p>
        </p:txBody>
      </p:sp>
      <p:sp>
        <p:nvSpPr>
          <p:cNvPr id="26" name="Shape 14">
            <a:extLst xmlns:a="http://schemas.openxmlformats.org/drawingml/2006/main">
              <a:ext uri="{FF2B5EF4-FFF2-40B4-BE49-F238E27FC236}">
                <a16:creationId xmlns:a16="http://schemas.microsoft.com/office/drawing/2014/main" id="{EA48108F-FBED-460E-BF53-DC322F3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34840"/>
            <a:ext cx="85039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ED7AA"/>
            </a:solidFill>
            <a:prstDash val="solid"/>
          </a:ln>
        </p:spPr>
      </p:sp>
      <p:sp>
        <p:nvSpPr>
          <p:cNvPr id="27" name="Text 15">
            <a:extLst xmlns:a="http://schemas.openxmlformats.org/drawingml/2006/main">
              <a:ext uri="{FF2B5EF4-FFF2-40B4-BE49-F238E27FC236}">
                <a16:creationId xmlns:a16="http://schemas.microsoft.com/office/drawing/2014/main" id="{07A0755F-CE17-4DCA-8D61-E9F4F20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2272"/>
            <a:ext cx="8229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2400E"/>
                </a:solidFill>
                <a:latin typeface="Arial"/>
                <a:ea typeface="Arial"/>
                <a:cs typeface="Arial"/>
              </a:rPr>
              <a:t>🧪  Para probar: cd backend → uvicorn app.main:app --reload   |   cd frontend → npm start   |   login: root / root   |   API docs: localhost:8000/docs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67878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ACED5A-DA31-4343-8B04-B33822A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¿Qué aprendimos?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149ABA-614F-43FB-9622-8C12C67D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Extrapolando lo de la materia al mundo real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FB93E3-5003-4B2F-9AD5-EEA1D0C0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1e5989530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143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02DC76D-493C-444A-9031-9D1018F1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24712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Bases de datos en un ORM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4FDEF37-EA2E-47B5-A6B7-4B301A4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81328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Los modelos del profe se volvieron clases SQLAlchemy con relaciones, constraints (ON DELETE SET NULL) y operaciones asíncronas.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2A48CE5-F2E4-47C2-8F3C-D410FD05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0584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b9a76aa17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1143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01F8580-0BFE-48A2-B6EA-E81FEF70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124712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Autenticación real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8D5B15C-5BBC-45B6-9C37-582C471C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81328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JWT no es solo teoría: el token viaja en cada header, el backend lo valida, los roles controlan qué puede ver cada usuario.</a:t>
            </a:r>
            <a:endParaRPr sz="10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B673FE8-DF3C-44CC-9178-984CD83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04288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e5ea1c45b4c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44144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A62C0C9-873C-4A1D-A075-C5F918F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Arquitectura por capas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3726E75-305A-4B27-8643-B8FDE49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79776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Model → Schema → Router es un patrón que se repite en cualquier backend. El mismo código sirvió para la clínica y para el gimnasio.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7ACE042-2587-48AE-A9B3-A5D62B8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04288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a12185a18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244144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6F5D8B69-C4A9-45B4-BB02-8A429A30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231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Estado reactivo</a:t>
            </a:r>
            <a:endParaRPr sz="13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F1E6B3C-0988-46B7-B41E-A42FA7F4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79776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Context API + React Router = lo que el profe enseñó de estado se convierte en una UI que refleja la BD en tiempo real.</a:t>
            </a:r>
            <a:endParaRPr sz="10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3AB63F9E-776E-4C07-8450-54BFE0E7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02736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057b6434c4a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3739896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1ED16D1C-8151-44B6-8559-1ED8A8F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21608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Reutilización de código</a:t>
            </a:r>
            <a:endParaRPr sz="13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38A9C162-2415-473E-82D2-61BD58FD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78224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proyecto base de clínica nos dio 6 días de ventaja. Código bien organizado es código reutilizable.</a:t>
            </a:r>
            <a:endParaRPr sz="10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FB86B925-1E3B-4AAE-A038-9CEE0458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02736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3ac1389194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3739896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74AA6D84-0B92-4EC6-825D-AAEAD91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21608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Adaptarse al cambio</a:t>
            </a:r>
            <a:endParaRPr sz="13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ADCB8616-98B4-40C1-83BA-C9A222F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3886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Un integrante no pudo continuar remotamente. Nos reorganizamos, trabajamos presencial y usamos Discord. El proyecto se entregó igual.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30933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AD77A7-360E-45E0-9E7C-08A85EE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Futuras actualizaciones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A0D3DA-88FD-4D1C-B017-60B0AD8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sistema tiene base sólida para crecer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541BE4-5F46-446C-A0CF-E24F5B3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C684AF-049A-4B1A-A3CF-DDE9DFB2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155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📱</a:t>
            </a:r>
            <a:endParaRPr sz="2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4F579A-634D-49EE-8CAC-248705F4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08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App móvil / PWA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577DD5-0843-4DDF-BC51-0520229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78308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Acceso desde celular sin instalación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48343B-8DF7-4B5A-A732-4D15C6D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100584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36530A-0D9C-4720-96A1-6B3413FE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11155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🔔</a:t>
            </a:r>
            <a:endParaRPr sz="2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316C38F-1FF8-46FB-9FDA-99A07FC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08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Notificaciones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FB9373-82E5-4914-A856-42943E42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Avisos automáticos cuando vence la membresía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D449B7C-6E5A-411C-9859-3013DFD3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00584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2F0AE-D1F0-4086-9A9C-99A6E724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1155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📄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0FAC689-FF37-40D6-835C-49769CA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508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Reportes PDF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8A217E-70CC-4BAF-A653-34CC7D2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78308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Exportar listados y balances en un clic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471C505-2272-4C6E-B819-05DD724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2316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5AB9C0-2F03-4D24-9414-1B67230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3288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💳</a:t>
            </a:r>
            <a:endParaRPr sz="2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BC0A74-A70F-4A99-B804-580ACD3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92608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Mercado Pago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E69BECB-EC38-4C63-939C-267AE711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20040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Cobro online integrado en la renovación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0DD981-D270-4D55-BDC2-6BF7E519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42316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360988-1689-4A06-842E-BEB3511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53288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📅</a:t>
            </a:r>
            <a:endParaRPr sz="2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3F1794-E6A9-4BA4-BC45-B795669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92608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Horarios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986D3D-ECE3-4BA4-836F-090051F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0040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Gestión de días y franjas por disciplina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F29F5E4-EABA-4E7B-9F27-CF5121B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23160"/>
            <a:ext cx="2743200" cy="1261872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CB08292-D9F8-49B8-9AA5-BD61A482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53288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✅</a:t>
            </a:r>
            <a:endParaRPr sz="2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C51DAF-F0CF-4AAD-95AD-49A8876F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92608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Tests automáticos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9E261CC-8A8D-47B3-A664-805ADC95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20040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Arial"/>
                <a:ea typeface="Arial"/>
                <a:cs typeface="Arial"/>
              </a:rPr>
              <a:t>pytest para el backend, React Testing Library para el front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872021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7761E9-4D6E-4612-8CDF-9104384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-10972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10000"/>
            </a:srgbClr>
          </a:solidFill>
          <a:ln xmlns:a="http://schemas.openxmlformats.org/drawingml/2006/main"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790DEC-A627-425B-9217-52A0CF57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27432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7000"/>
            </a:srgbClr>
          </a:solidFill>
          <a:ln xmlns:a="http://schemas.openxmlformats.org/drawingml/2006/main" w="12700">
            <a:solidFill>
              <a:srgbClr val="F97316">
                <a:alpha val="700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EADC9F-80A7-43D9-A3FC-4F5A16A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GYM Manager</a:t>
            </a:r>
            <a:endParaRPr sz="5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161AB5-0297-4164-B3F4-1283D18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315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i="1">
                <a:solidFill>
                  <a:srgbClr val="FB923C"/>
                </a:solidFill>
                <a:latin typeface="Arial"/>
                <a:ea typeface="Arial"/>
                <a:cs typeface="Arial"/>
              </a:rPr>
              <a:t>De la gestión en papel a un sistema web completo</a:t>
            </a:r>
            <a:endParaRPr sz="1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C66C94F-9369-48BB-A701-C335C36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201168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A2A2A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A1057-05C4-49DC-ACCE-6DCED729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517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9</a:t>
            </a:r>
            <a:endParaRPr sz="3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705BA3F-E502-40DF-94A8-20DAB09F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3639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módulos desarrollados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055D61A-7971-46D3-9E17-5B83795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606040"/>
            <a:ext cx="201168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A2A2A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93F22B9-33F9-4917-83CC-D5E5C00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6517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12</a:t>
            </a:r>
            <a:endParaRPr sz="3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442B803-29B2-44D0-B20B-ABD947A7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3639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días de desarrollo activo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2A4A9F1-01EB-4881-8F6B-614F26F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06040"/>
            <a:ext cx="201168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2700">
            <a:solidFill>
              <a:srgbClr val="2A2A2A"/>
            </a:solidFill>
            <a:prstDash val="solid"/>
          </a:ln>
          <a:effectLst xmlns:a="http://schemas.openxmlformats.org/drawingml/2006/main">
            <a:outerShdw blurRad="101600" dist="381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0A10BB-54A6-403F-BF06-9E649DB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517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8</a:t>
            </a:r>
            <a:endParaRPr sz="3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926F46-E205-4358-B5D3-DF3EA3A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13639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tablas en la BD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CFF6AC-3F31-4F17-B8B1-43FCF9CC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Alejo Diaz Allendez  ·  Francisco Castro  ·  Axel Avalo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F4C4DC8-76B6-449B-9835-B334D6D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UTN — FRLR  |  Programación IV  |  Prof. De La Puente Ferraris  |  Junio 2026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DF28ADF-3306-4FDE-932B-D68E184F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274320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9E056A-0AB9-4623-91E3-2815AD6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¿Preguntas?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763440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2026-09-15T01:04:16.1570000Z</dcterms:created>
  <dcterms:modified xsi:type="dcterms:W3CDTF">2026-09-15T01:04:16.1570000Z</dcterms:modified>
</coreProperties>
</file>